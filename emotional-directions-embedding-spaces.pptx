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f73e2472d804bcb" /><Relationship Type="http://schemas.openxmlformats.org/officeDocument/2006/relationships/extended-properties" Target="/docProps/app.xml" Id="R2e783d66925746fc" /><Relationship Type="http://schemas.openxmlformats.org/officeDocument/2006/relationships/officeDocument" Target="/ppt/presentation.xml" Id="Rc994032a457f48b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51bb1a96a8e4303"/>
  </p:sldMasterIdLst>
  <p:notesMasterIdLst>
    <p:notesMasterId xmlns:r="http://schemas.openxmlformats.org/officeDocument/2006/relationships" r:id="R143dddc75548463d"/>
  </p:notesMasterIdLst>
  <p:sldIdLst>
    <p:sldId xmlns:r="http://schemas.openxmlformats.org/officeDocument/2006/relationships" id="256" r:id="R4f6d4ebd46b04fbb"/>
    <p:sldId xmlns:r="http://schemas.openxmlformats.org/officeDocument/2006/relationships" id="257" r:id="R295180940a534d36"/>
    <p:sldId xmlns:r="http://schemas.openxmlformats.org/officeDocument/2006/relationships" id="258" r:id="Rbc26a299cf6b4492"/>
    <p:sldId xmlns:r="http://schemas.openxmlformats.org/officeDocument/2006/relationships" id="259" r:id="R21c75636ea8a4ff0"/>
    <p:sldId xmlns:r="http://schemas.openxmlformats.org/officeDocument/2006/relationships" id="260" r:id="Rcf1bc66c443c4cf7"/>
    <p:sldId xmlns:r="http://schemas.openxmlformats.org/officeDocument/2006/relationships" id="261" r:id="R272b19868b644fef"/>
    <p:sldId xmlns:r="http://schemas.openxmlformats.org/officeDocument/2006/relationships" id="262" r:id="R8894b4f629c84a3c"/>
    <p:sldId xmlns:r="http://schemas.openxmlformats.org/officeDocument/2006/relationships" id="263" r:id="R06aa947872c04ab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152d5d9664348ec" /><Relationship Type="http://schemas.openxmlformats.org/officeDocument/2006/relationships/slideMaster" Target="/ppt/slideMasters/slideMaster1.xml" Id="R651bb1a96a8e4303" /><Relationship Type="http://schemas.openxmlformats.org/officeDocument/2006/relationships/notesMaster" Target="/ppt/notesMasters/notesMaster1.xml" Id="R143dddc75548463d" /><Relationship Type="http://schemas.openxmlformats.org/officeDocument/2006/relationships/presProps" Target="/ppt/presProps.xml" Id="Rf27950032db6428e" /><Relationship Type="http://schemas.openxmlformats.org/officeDocument/2006/relationships/viewProps" Target="/ppt/viewProps.xml" Id="Rcbb46725932d45c6" /><Relationship Type="http://schemas.openxmlformats.org/officeDocument/2006/relationships/tableStyles" Target="/ppt/tableStyles.xml" Id="Rdaff3382af5448ec" /><Relationship Type="http://schemas.openxmlformats.org/officeDocument/2006/relationships/slide" Target="/ppt/slides/slide1.xml" Id="R4f6d4ebd46b04fbb" /><Relationship Type="http://schemas.openxmlformats.org/officeDocument/2006/relationships/slide" Target="/ppt/slides/slide2.xml" Id="R295180940a534d36" /><Relationship Type="http://schemas.openxmlformats.org/officeDocument/2006/relationships/slide" Target="/ppt/slides/slide3.xml" Id="Rbc26a299cf6b4492" /><Relationship Type="http://schemas.openxmlformats.org/officeDocument/2006/relationships/slide" Target="/ppt/slides/slide4.xml" Id="R21c75636ea8a4ff0" /><Relationship Type="http://schemas.openxmlformats.org/officeDocument/2006/relationships/slide" Target="/ppt/slides/slide5.xml" Id="Rcf1bc66c443c4cf7" /><Relationship Type="http://schemas.openxmlformats.org/officeDocument/2006/relationships/slide" Target="/ppt/slides/slide6.xml" Id="R272b19868b644fef" /><Relationship Type="http://schemas.openxmlformats.org/officeDocument/2006/relationships/slide" Target="/ppt/slides/slide7.xml" Id="R8894b4f629c84a3c" /><Relationship Type="http://schemas.openxmlformats.org/officeDocument/2006/relationships/slide" Target="/ppt/slides/slide8.xml" Id="R06aa947872c04ab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306f620e2474d7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8af143b012f43db" /><Relationship Type="http://schemas.openxmlformats.org/officeDocument/2006/relationships/notesMaster" Target="/ppt/notesMasters/notesMaster1.xml" Id="Rcfaa6a9f14884be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c3316b659c44ceb" /><Relationship Type="http://schemas.openxmlformats.org/officeDocument/2006/relationships/notesMaster" Target="/ppt/notesMasters/notesMaster1.xml" Id="R67338a5df8204f6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a1e5ea2735d4abd" /><Relationship Type="http://schemas.openxmlformats.org/officeDocument/2006/relationships/notesMaster" Target="/ppt/notesMasters/notesMaster1.xml" Id="Rf797804ebf59457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5b381ddd7ad4a26" /><Relationship Type="http://schemas.openxmlformats.org/officeDocument/2006/relationships/notesMaster" Target="/ppt/notesMasters/notesMaster1.xml" Id="R1c3f4c0a410841c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9df72707531478f" /><Relationship Type="http://schemas.openxmlformats.org/officeDocument/2006/relationships/notesMaster" Target="/ppt/notesMasters/notesMaster1.xml" Id="R8732cdbde7624aa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96408975af44adc" /><Relationship Type="http://schemas.openxmlformats.org/officeDocument/2006/relationships/notesMaster" Target="/ppt/notesMasters/notesMaster1.xml" Id="R0fd15f9232834ba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7186be329c14a68" /><Relationship Type="http://schemas.openxmlformats.org/officeDocument/2006/relationships/notesMaster" Target="/ppt/notesMasters/notesMaster1.xml" Id="R26303284375c4ee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f505ba88e5e4934" /><Relationship Type="http://schemas.openxmlformats.org/officeDocument/2006/relationships/notesMaster" Target="/ppt/notesMasters/notesMaster1.xml" Id="Rc13dfe054c2c4e5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5a6b867c004b3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d71d8430e754e4d" /><Relationship Type="http://schemas.openxmlformats.org/officeDocument/2006/relationships/slideLayout" Target="/ppt/slideLayouts/slideLayout1.xml" Id="Rf1f3780480044f3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1f3780480044f3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47f1c86b89466e" /><Relationship Type="http://schemas.openxmlformats.org/officeDocument/2006/relationships/notesSlide" Target="/ppt/notesSlides/notesSlide1.xml" Id="R16a8d6db1f624c7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d3f51063e44f87" /><Relationship Type="http://schemas.openxmlformats.org/officeDocument/2006/relationships/notesSlide" Target="/ppt/notesSlides/notesSlide2.xml" Id="Ra999e7d635c04ea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a43fd000af4b63" /><Relationship Type="http://schemas.openxmlformats.org/officeDocument/2006/relationships/notesSlide" Target="/ppt/notesSlides/notesSlide3.xml" Id="R36d015bd496a4a3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9d55b74de04bb1" /><Relationship Type="http://schemas.openxmlformats.org/officeDocument/2006/relationships/notesSlide" Target="/ppt/notesSlides/notesSlide4.xml" Id="Rd8878d011f324df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b4bf4800ba4f0f" /><Relationship Type="http://schemas.openxmlformats.org/officeDocument/2006/relationships/notesSlide" Target="/ppt/notesSlides/notesSlide5.xml" Id="R9ad08497fcab45a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2a5b702f49408d" /><Relationship Type="http://schemas.openxmlformats.org/officeDocument/2006/relationships/notesSlide" Target="/ppt/notesSlides/notesSlide6.xml" Id="R813618b227da496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13ba7ccf554562" /><Relationship Type="http://schemas.openxmlformats.org/officeDocument/2006/relationships/notesSlide" Target="/ppt/notesSlides/notesSlide7.xml" Id="Rc56165b384fd4ab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0f79b9a1164e03" /><Relationship Type="http://schemas.openxmlformats.org/officeDocument/2006/relationships/notesSlide" Target="/ppt/notesSlides/notesSlide8.xml" Id="Rdb9a6df2a47e431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A59704-E98C-4956-8FE5-BE962E9AB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C4C814-4D5F-4399-9CA3-C4AAF1FE9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85800"/>
            <a:ext cx="7429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rPr>
              <a:t>Emotional Directions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511DA8-644D-49DD-88EA-D5F1EB2E7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704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C9D2D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0">
                <a:solidFill>
                  <a:srgbClr val="C9D2D8"/>
                </a:solidFill>
                <a:latin typeface="Aptos Display"/>
                <a:ea typeface="Aptos Display"/>
                <a:cs typeface="Aptos Display"/>
              </a:rPr>
              <a:t>in Embedding Spaces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AD9E90-98BE-46DD-8224-84DFB14C9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7239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DE4E8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DDE4E8"/>
                </a:solidFill>
                <a:latin typeface="Aptos"/>
                <a:ea typeface="Aptos"/>
                <a:cs typeface="Aptos"/>
              </a:rPr>
              <a:t>Do simple vector operations create interpretable semantic shifts across models and languages?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1DC0A3-478A-4183-BF6B-AA9F13BDE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4955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75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08A2B2-7D72-4F98-A677-F9F63A040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8003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75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2D781B-5E69-49D0-9E7F-85D1E5BB7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1051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75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724DAB-CB6E-49A6-878F-92B913504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4955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75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A49459-F64E-4544-8920-9586D1818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003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75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7ED9BF-5C65-4485-816A-E1977E46A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051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75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8490DA-93A8-41C5-BC27-E614DD69B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4955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75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DEB7EA-9350-4604-802E-E33C8AA93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5052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4E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828159-CB0C-4098-A862-5B46D52BC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7338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8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327BEE-A6D2-441F-B26A-D99C57147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9624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4E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886AC7-0819-432F-9653-F523C7C52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41910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8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CC70A4-C71F-4237-9D60-89388436B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5052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4E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6C57F7-5D45-4E5A-BE54-821C025F2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37338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8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17119B-05D9-4C39-B8B8-4DD8F88B5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9624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4E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535ACF-9A91-47C5-B2DC-2939E1050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41910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8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6C64A4-72D9-4765-BA4B-09B689C16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429000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8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723472-30A0-448D-8B30-8D1FFF025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314700"/>
            <a:ext cx="209550" cy="2095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48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5F5772-7027-4F9F-B460-8CC3CF9D4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4003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6B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B6BE"/>
                </a:solidFill>
                <a:latin typeface="Aptos"/>
                <a:ea typeface="Aptos"/>
                <a:cs typeface="Aptos"/>
              </a:rPr>
              <a:t>neutral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36EF5B-9312-434B-8D5D-8D383EC5F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5339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0D3A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0D3A1"/>
                </a:solidFill>
                <a:latin typeface="Aptos"/>
                <a:ea typeface="Aptos"/>
                <a:cs typeface="Aptos"/>
              </a:rPr>
              <a:t>emotionally shifted candidates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5BBA57-1D39-408D-AEE5-AA6B183DB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2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E88200-013A-4FC2-865C-3DE1374DE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341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EABB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EABB4"/>
                </a:solidFill>
                <a:latin typeface="Aptos"/>
                <a:ea typeface="Aptos"/>
                <a:cs typeface="Aptos"/>
              </a:rPr>
              <a:t>Emotional Directions in Embedding Spaces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3AD1C8-A79F-4007-98B9-4A3A54201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1510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C48A2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48A2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509866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E4773A-94E1-4035-AEFE-B02752CB1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3D87B23C-C828-4273-B569-D2AB3F9B8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9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F94682B-074D-432D-95DA-7A48F7946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19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7727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7727E"/>
                </a:solidFill>
                <a:latin typeface="Aptos"/>
                <a:ea typeface="Aptos"/>
                <a:cs typeface="Aptos"/>
              </a:rPr>
              <a:t>MOTIVATION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AF4930-DE46-45F2-9128-42B703490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0100"/>
            <a:ext cx="857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Emotion directions test whether embeddings encode affect, not only topic similarity.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723BAF-2734-4B5D-93C0-D66046005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00200"/>
            <a:ext cx="8096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7727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7727E"/>
                </a:solidFill>
                <a:latin typeface="Aptos"/>
                <a:ea typeface="Aptos"/>
                <a:cs typeface="Aptos"/>
              </a:rPr>
              <a:t>The experiment asks whether emotional meaning behaves consistently across languages and model families.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CF1B60-DFCD-445A-83D1-6EDE342A4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146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9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A99388-2327-4D34-B7A2-F2FA5009A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47950"/>
            <a:ext cx="533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Embedding spaces are good at semantic relations; this project checks whether affective states also form usable directions.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381B03-80E2-44A6-B7FE-85A43C832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099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7D484E-B81D-4E34-AFA0-1EA459985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543300"/>
            <a:ext cx="533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Cross-language comparison helps separate model-specific artifacts from patterns that survive translation.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09B1E2-2DC0-485D-A0FA-0B2CA1C86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05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8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7216F9-51EC-47E0-A747-1F0C9383A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38650"/>
            <a:ext cx="561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Model comparison matters because dedicated embedders and pooled LLM hidden states are not equivalent representations.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AC1DEF-B3E0-4C21-891E-8C9F868B0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00300"/>
            <a:ext cx="1238250" cy="1238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0EF1DA-BFC4-4530-B538-806D68794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857500"/>
            <a:ext cx="819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64E5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B64E5A"/>
                </a:solidFill>
                <a:latin typeface="Aptos"/>
                <a:ea typeface="Aptos"/>
                <a:cs typeface="Aptos"/>
              </a:rPr>
              <a:t>affect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16BAE3-E4ED-45E1-8D3B-5767D557B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00300"/>
            <a:ext cx="1238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A6BB59-4CC6-4DBF-9FAF-90C881EFF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857500"/>
            <a:ext cx="781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6F9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F6F9F"/>
                </a:solidFill>
                <a:latin typeface="Aptos"/>
                <a:ea typeface="Aptos"/>
                <a:cs typeface="Aptos"/>
              </a:rPr>
              <a:t>vectors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14C8F5-E0C3-45D7-8BB8-B7B9C708A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97180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8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F72C47-B5E4-49BA-A42C-D8598F982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191000"/>
            <a:ext cx="666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EN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A0E2F4-5065-4361-842B-C42272C6E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191000"/>
            <a:ext cx="666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PL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5386BD-CBDF-4E72-BCD7-F96685FF7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333875"/>
            <a:ext cx="1028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E73C10-C21A-4E2B-9376-C60AF1A8E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3966B1-245D-4F9D-9187-868C3F5D6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341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808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8087"/>
                </a:solidFill>
                <a:latin typeface="Aptos"/>
                <a:ea typeface="Aptos"/>
                <a:cs typeface="Aptos"/>
              </a:rPr>
              <a:t>Emotional Directions in Embedding Spaces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AD4975-45D5-4D1B-9BD5-63F811EB7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1510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2F6F9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F6F9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5786375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435C67-A32F-4926-89B0-3794CE6CA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1C84F45-9EDC-4D93-B82F-1E550FBD0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9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2DD7434-C701-453F-8788-6688F6C02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19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7727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7727E"/>
                </a:solidFill>
                <a:latin typeface="Aptos"/>
                <a:ea typeface="Aptos"/>
                <a:cs typeface="Aptos"/>
              </a:rPr>
              <a:t>MAIN IDEA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11C33A-5EAD-4CF4-9EE7-D20A9E024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0100"/>
            <a:ext cx="857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The experiment turns emotion into a direction vector, then ranks candidates by alignment.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A8BC0F-5CD1-4ED4-BC1E-2E0AACE70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00200"/>
            <a:ext cx="8096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7727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7727E"/>
                </a:solidFill>
                <a:latin typeface="Aptos"/>
                <a:ea typeface="Aptos"/>
                <a:cs typeface="Aptos"/>
              </a:rPr>
              <a:t>The central operation is deliberately simple: emotion centroid minus neutral centroid.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B7C517-7F08-4F2E-907D-FF78B41A5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009900"/>
            <a:ext cx="233362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64E5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2C0717-3FD3-4818-97D5-936AF9422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18135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Emotion centroid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92C9A7-3D14-4CB8-87E9-5AD1D7191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543300"/>
            <a:ext cx="1905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7727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7727E"/>
                </a:solidFill>
                <a:latin typeface="Aptos"/>
                <a:ea typeface="Aptos"/>
                <a:cs typeface="Aptos"/>
              </a:rPr>
              <a:t>feeling sad</a:t>
            </a:r>
          </a:p>
          <a:p xmlns:a="http://schemas.openxmlformats.org/drawingml/2006/main">
            <a:pPr algn="l">
              <a:defRPr sz="1275" b="0">
                <a:solidFill>
                  <a:srgbClr val="67727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7727E"/>
                </a:solidFill>
                <a:latin typeface="Aptos"/>
                <a:ea typeface="Aptos"/>
                <a:cs typeface="Aptos"/>
              </a:rPr>
              <a:t>feeling gloomy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A8482A-323D-4839-B878-9D94DF36C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09900"/>
            <a:ext cx="233362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67727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6D386F-9D26-428B-A2E0-4F6FF24F4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18135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Neutral centroid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1C7BE2-8F23-4535-9D47-0040F327B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543300"/>
            <a:ext cx="1905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7727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7727E"/>
                </a:solidFill>
                <a:latin typeface="Aptos"/>
                <a:ea typeface="Aptos"/>
                <a:cs typeface="Aptos"/>
              </a:rPr>
              <a:t>neutral</a:t>
            </a:r>
          </a:p>
          <a:p xmlns:a="http://schemas.openxmlformats.org/drawingml/2006/main">
            <a:pPr algn="l">
              <a:defRPr sz="1275" b="0">
                <a:solidFill>
                  <a:srgbClr val="67727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7727E"/>
                </a:solidFill>
                <a:latin typeface="Aptos"/>
                <a:ea typeface="Aptos"/>
                <a:cs typeface="Aptos"/>
              </a:rPr>
              <a:t>ordinary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D9060B-290B-4A2B-AF5F-29145A0DD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009900"/>
            <a:ext cx="233362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8A2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B6391E-5FCA-4570-8F90-CA05A8F82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18135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Emotion direction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E4F8F6-B49B-4E13-AF7F-8DB3ED9CA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543300"/>
            <a:ext cx="1905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7727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7727E"/>
                </a:solidFill>
                <a:latin typeface="Aptos"/>
                <a:ea typeface="Aptos"/>
                <a:cs typeface="Aptos"/>
              </a:rPr>
              <a:t>semantic shift</a:t>
            </a:r>
          </a:p>
          <a:p xmlns:a="http://schemas.openxmlformats.org/drawingml/2006/main">
            <a:pPr algn="l">
              <a:defRPr sz="1275" b="0">
                <a:solidFill>
                  <a:srgbClr val="67727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7727E"/>
                </a:solidFill>
                <a:latin typeface="Aptos"/>
                <a:ea typeface="Aptos"/>
                <a:cs typeface="Aptos"/>
              </a:rPr>
              <a:t>vector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386F2F-28C7-4B6F-B398-C94BFDCF7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257550"/>
            <a:ext cx="381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ACD8AE-D740-49DE-AF7A-7496E3C2F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57550"/>
            <a:ext cx="381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=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E3A7E7-4996-42D4-9356-E4E9887DD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819650"/>
            <a:ext cx="8020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Candidates are scored by cosine similarity and projection onto this direction.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0C9A55-BB53-4FDF-8A8F-89FFD2916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C5BA6B-CFB4-4C71-BA8F-0309F1089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341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808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8087"/>
                </a:solidFill>
                <a:latin typeface="Aptos"/>
                <a:ea typeface="Aptos"/>
                <a:cs typeface="Aptos"/>
              </a:rPr>
              <a:t>Emotional Directions in Embedding Spaces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A5B1DB-8E9D-4A76-95C5-05D4E265F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1510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2F6F9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F6F9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5864557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7AC4BA5-0953-4225-A931-BCC271E34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6CD5A1C-AC71-422E-9B75-B9EE616A6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9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6B5139C-1AB0-47E8-8482-6E15F5AC4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19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7727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7727E"/>
                </a:solidFill>
                <a:latin typeface="Aptos"/>
                <a:ea typeface="Aptos"/>
                <a:cs typeface="Aptos"/>
              </a:rPr>
              <a:t>INPUTS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1E9408-120B-4495-BCB7-AFC0A5318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0100"/>
            <a:ext cx="857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A small structured testbed makes the vector operation easy to inspect.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F82B86-CE4C-4252-A04C-0F74D6174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00200"/>
            <a:ext cx="8096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7727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7727E"/>
                </a:solidFill>
                <a:latin typeface="Aptos"/>
                <a:ea typeface="Aptos"/>
                <a:cs typeface="Aptos"/>
              </a:rPr>
              <a:t>Languages, emotion terms, neutral baselines, and candidate categories are controlled.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659433-13D9-4A22-9F36-C40872850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Languages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B1001B-99C0-4F22-ACF1-DFF595238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6705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F6F9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93D060-8582-47A3-8C44-4A49D8297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43250"/>
            <a:ext cx="1162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English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E9D4C9-A8BA-4A32-9C30-B5DF40364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06705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D8A7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186FBE-76E3-4147-A512-6A51939EB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143250"/>
            <a:ext cx="1162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Polish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26CB09-33A8-4766-9F7B-DADA3FF1C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Emotion set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F682DB-BEA9-461A-8058-BEC336E65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57700"/>
            <a:ext cx="1181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64E5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516E64-038A-44B5-A7E2-D23A89432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3390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sadness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7AE5CA-DC21-4435-896F-98013CA40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457700"/>
            <a:ext cx="1181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64E5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0C07CF-1E66-452A-985D-4D9947086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53390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disgust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812F2C-89E2-4670-AADA-85D48A346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457700"/>
            <a:ext cx="1181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64E5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982A86-CBCF-45BF-BBA6-2F0F52E2D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53390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anger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98BA6D-658E-4850-9C52-74A8D7837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457700"/>
            <a:ext cx="1181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64E5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E5BEC8-50C8-4AA5-AEDC-41A347D03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53390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fear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834700-44FA-4C9A-B9DD-0FF04FA86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457700"/>
            <a:ext cx="1181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64E5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065CB4-C879-4794-9201-7ACBCA82F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3390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joy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B5B78A-882A-4623-B996-CEB35EA3B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53000"/>
            <a:ext cx="1181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64E5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78897D-9574-4F08-A232-29EC2F00C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2920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amusement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68235E-19DE-4E49-96A5-ECD52D491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953000"/>
            <a:ext cx="1181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64E5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BB8684-21C1-4E69-982B-B8EB023E1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02920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excitement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9D80E1-6609-4946-B6F2-AFB14A2E0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953000"/>
            <a:ext cx="1181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64E5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5A412F-11C8-4BA3-BBBE-BFCC45A2A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02920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love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1D1C40-A364-4DEC-B7E8-291F82E1F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953000"/>
            <a:ext cx="1181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48A2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3CDAAD-8E25-4B18-A0BC-5C5157301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02920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positive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81EFDBA-E03B-48C8-BDD0-74B6DEF2D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953000"/>
            <a:ext cx="1181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48A2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E18A2A-6546-4898-8472-3EB7BA33F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2920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negative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C6AF845-3609-4AB6-9DEF-78C6FDCC6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717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Candidate categories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104C926-E883-4E2F-BAC3-66925348E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4800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9EDA76-94D8-4A65-B374-3A36F384A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4800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7B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3E2A14D-0C96-4E55-87D0-C44A5E67C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1432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Food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489019E-2AFB-4C6B-BB8D-5DC614CCF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60045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94B6329-5F2A-4F64-B242-69AA2EC6A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60045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4E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3BF4CB3-0BD8-4A79-9537-79E5C76FB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6957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Person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5A7203B-189B-4D32-B5CD-541810010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15290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51D8C17-22A5-4AE8-A079-BD9141C57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15290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9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1BB9D73-61E4-4F70-8245-2B2AE867E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2481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Object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3A843B4-9118-4425-BB99-2181CF306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70535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AF92366-7D1D-4D38-95CE-B2718CAE8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70535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8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872FD69-4C2B-4594-91F3-6D068F132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8006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Place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68D036E-D7FB-4CF4-B830-634472C61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25780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E5B0813-F30B-4FCB-BC0B-257270493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25780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F03C989-B842-44AF-9DFB-4DE07BC92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53530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Situation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EBB9B10-571D-4871-A751-F6B428EA5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6FA1D9F-8CC8-4B1B-9BA1-53463D1C6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341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808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8087"/>
                </a:solidFill>
                <a:latin typeface="Aptos"/>
                <a:ea typeface="Aptos"/>
                <a:cs typeface="Aptos"/>
              </a:rPr>
              <a:t>Emotional Directions in Embedding Spaces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AB771FC-FA80-4B07-B80D-53D2AC0E9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1510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2F6F9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F6F9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0873644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C91E654-935F-4909-A430-792E17B2A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9AE68D6-6095-411F-9D03-A2E339CBB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8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957354A-15E2-4D7B-A09E-227ADFA8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19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9C3C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C3CA"/>
                </a:solidFill>
                <a:latin typeface="Aptos"/>
                <a:ea typeface="Aptos"/>
                <a:cs typeface="Aptos"/>
              </a:rPr>
              <a:t>MODELS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B26790-9E88-4369-8BDA-4EC107330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0100"/>
            <a:ext cx="857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rPr>
              <a:t>The comparison mixes two dedicated embedders with one experimental LLM hidden-state baseline.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B5D1D3-F5B2-4136-B009-DF1A0DDB8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28875"/>
            <a:ext cx="2857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631"/>
          </a:solidFill>
          <a:ln xmlns:a="http://schemas.openxmlformats.org/drawingml/2006/main" w="9525">
            <a:solidFill>
              <a:srgbClr val="30414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4F7918-5A5E-4682-9486-6E296431E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860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9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48AF42-267C-42A4-B0B3-DBD7D788A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00350"/>
            <a:ext cx="552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81030A-4853-435E-AA7C-4CCE2D880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486150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Gemini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C7ED5E-364B-4CFD-957F-F78B34658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43350"/>
            <a:ext cx="2247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9C3C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9C3CA"/>
                </a:solidFill>
                <a:latin typeface="Aptos"/>
                <a:ea typeface="Aptos"/>
                <a:cs typeface="Aptos"/>
              </a:rPr>
              <a:t>models/gemini-embedding-001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7EFD14-2C96-416E-9C80-CFEA044EE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38650"/>
            <a:ext cx="2247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6F9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F6F9F"/>
                </a:solidFill>
                <a:latin typeface="Aptos"/>
                <a:ea typeface="Aptos"/>
                <a:cs typeface="Aptos"/>
              </a:rPr>
              <a:t>Dedicated embedding API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C46A41-5AB1-4CD4-B59D-C1BA386A9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428875"/>
            <a:ext cx="2857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631"/>
          </a:solidFill>
          <a:ln xmlns:a="http://schemas.openxmlformats.org/drawingml/2006/main" w="9525">
            <a:solidFill>
              <a:srgbClr val="30414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47EEB4-0DEB-4A49-B79E-B2CEC63A8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6860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5829A9-508C-4AC1-8C29-93EC12E42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800350"/>
            <a:ext cx="552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98BEAE-955B-4FC2-93E9-0A9422598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486150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Qwen3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11F653-7E28-4560-8CD2-2E935A28A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943350"/>
            <a:ext cx="2247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9C3C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9C3CA"/>
                </a:solidFill>
                <a:latin typeface="Aptos"/>
                <a:ea typeface="Aptos"/>
                <a:cs typeface="Aptos"/>
              </a:rPr>
              <a:t>Qwen3-Embedding-8B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BAC08E-204F-4847-9EFF-91E16F89C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438650"/>
            <a:ext cx="2247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8A7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D8A7A"/>
                </a:solidFill>
                <a:latin typeface="Aptos"/>
                <a:ea typeface="Aptos"/>
                <a:cs typeface="Aptos"/>
              </a:rPr>
              <a:t>Open-weights embedding model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C65E98-2CA6-4DA9-8EE4-9F44B9028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428875"/>
            <a:ext cx="2857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631"/>
          </a:solidFill>
          <a:ln xmlns:a="http://schemas.openxmlformats.org/drawingml/2006/main" w="9525">
            <a:solidFill>
              <a:srgbClr val="30414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C56EA6-3AA4-4776-AEEA-53586B54A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6860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8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3D5E88-8525-48C3-975B-E2184D2F8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00350"/>
            <a:ext cx="552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C658A9-08EA-4134-B255-746A1A77E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86150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Bielik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8EA101-6837-4F17-9817-45C84024C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943350"/>
            <a:ext cx="2247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9C3C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9C3CA"/>
                </a:solidFill>
                <a:latin typeface="Aptos"/>
                <a:ea typeface="Aptos"/>
                <a:cs typeface="Aptos"/>
              </a:rPr>
              <a:t>Bielik-1.5B-v3.0-Instruct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16310A-3F36-40AA-BDF3-8337ED719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438650"/>
            <a:ext cx="2247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48A2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48A2C"/>
                </a:solidFill>
                <a:latin typeface="Aptos"/>
                <a:ea typeface="Aptos"/>
                <a:cs typeface="Aptos"/>
              </a:rPr>
              <a:t>Mean pooled hidden states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66C476-337A-4C66-8E89-E7EFC5889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276850"/>
            <a:ext cx="809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DDE4E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DE4E8"/>
                </a:solidFill>
                <a:latin typeface="Aptos"/>
                <a:ea typeface="Aptos"/>
                <a:cs typeface="Aptos"/>
              </a:rPr>
              <a:t>Important: Bielik is not a classical embedding model, so its results should be read as exploratory.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3F28C5-57F5-4BD8-912E-5FE9C1508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2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BEEA88-99BA-4CEE-B4FA-47FE3D94F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341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EABB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EABB4"/>
                </a:solidFill>
                <a:latin typeface="Aptos"/>
                <a:ea typeface="Aptos"/>
                <a:cs typeface="Aptos"/>
              </a:rPr>
              <a:t>Emotional Directions in Embedding Spaces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DE6467-778B-4FD4-BC25-9F20261CF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1510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C48A2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48A2C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4758320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786757-F156-4E4E-947B-1E4E0DC5A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007C3E6-F493-45D6-8F7B-CA4BBE651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9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C899F48-1430-4EEC-A4C9-F08D372BF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19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7727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7727E"/>
                </a:solidFill>
                <a:latin typeface="Aptos"/>
                <a:ea typeface="Aptos"/>
                <a:cs typeface="Aptos"/>
              </a:rPr>
              <a:t>METHOD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DA8FF7-251C-4BC4-ADB6-D7694C6DB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0100"/>
            <a:ext cx="857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The pipeline embeds terms, builds a direction, ranks candidates, then compares top-10 outputs.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D5BEC0-824C-4FDA-9EED-2C57C5D63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00200"/>
            <a:ext cx="8096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7727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7727E"/>
                </a:solidFill>
                <a:latin typeface="Aptos"/>
                <a:ea typeface="Aptos"/>
                <a:cs typeface="Aptos"/>
              </a:rPr>
              <a:t>Each stage keeps the same logic across models and languages.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CB5D12-1C08-43F7-A2F5-35C21C9E8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24200"/>
            <a:ext cx="1952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F6F9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BF2062-A0EA-420C-8A87-20FAEF27A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7185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6F9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F6F9F"/>
                </a:solidFill>
                <a:latin typeface="Aptos"/>
                <a:ea typeface="Aptos"/>
                <a:cs typeface="Aptos"/>
              </a:rPr>
              <a:t>Embed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1A46D1-4475-4028-99D9-9769009FF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752850"/>
            <a:ext cx="14763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emotion, neutral, and candidate terms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41CE8C-D869-4A97-B1FC-254DD9984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705225"/>
            <a:ext cx="495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EADC7C-7056-4D16-B4EC-B02F572F3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609975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7979E9-1735-4343-B70D-553BEBAD8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124200"/>
            <a:ext cx="1952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64E5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6001C7-A0C8-41B2-9B40-9388B0B00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37185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64E5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B64E5A"/>
                </a:solidFill>
                <a:latin typeface="Aptos"/>
                <a:ea typeface="Aptos"/>
                <a:cs typeface="Aptos"/>
              </a:rPr>
              <a:t>Build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962D0C-8B22-44DE-81F8-11700C7DA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752850"/>
            <a:ext cx="14763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emotion centroid minus neutral centroid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6C83B0-43EE-4CC3-85EA-0967B2D7A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705225"/>
            <a:ext cx="495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184D39-8D01-485D-B072-BE52462BD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3609975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B51DD3-9FCB-46A4-A4EC-571D5BDE6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124200"/>
            <a:ext cx="1952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8A2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02ABD9-F8BB-4D6E-B591-DC2621A36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7185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48A2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C48A2C"/>
                </a:solidFill>
                <a:latin typeface="Aptos"/>
                <a:ea typeface="Aptos"/>
                <a:cs typeface="Aptos"/>
              </a:rPr>
              <a:t>Rank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E4F453-7EA5-49E4-9C97-EA5D835D6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52850"/>
            <a:ext cx="14763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cosine similarity and projection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F5917D-BC67-4261-9F6F-DFFC427B9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705225"/>
            <a:ext cx="495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82185E-CEAB-4BF0-9A67-AEBDF0905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609975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000F2E-B37E-4085-8D9C-F4C127D98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124200"/>
            <a:ext cx="1952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D8A7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7B71BE-C9BA-460F-A9F7-76F8255F3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337185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8A7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D8A7A"/>
                </a:solidFill>
                <a:latin typeface="Aptos"/>
                <a:ea typeface="Aptos"/>
                <a:cs typeface="Aptos"/>
              </a:rPr>
              <a:t>Compare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3A2813-8251-4B6F-AC1F-220042F80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3752850"/>
            <a:ext cx="14763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top-10 outputs across models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9CD27F-4FCF-4C91-9D49-F82D59565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086350"/>
            <a:ext cx="7334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Output: ranked candidate words that move most strongly along each emotional direction.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A807E8-6A4F-4F53-AB38-BA008CB1E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A58771-3E23-4B22-BF28-6C6951D48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341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808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8087"/>
                </a:solidFill>
                <a:latin typeface="Aptos"/>
                <a:ea typeface="Aptos"/>
                <a:cs typeface="Aptos"/>
              </a:rPr>
              <a:t>Emotional Directions in Embedding Spaces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1EFEB9-8244-46DA-B0B9-EABDBE4A9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1510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2F6F9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F6F9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1880406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48C132-5B0C-4D6B-B466-8F33175B4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35DF382-9349-4A71-8789-D84B7538D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9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394EF45-8EA7-4630-9085-8A8364046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19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7727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7727E"/>
                </a:solidFill>
                <a:latin typeface="Aptos"/>
                <a:ea typeface="Aptos"/>
                <a:cs typeface="Aptos"/>
              </a:rPr>
              <a:t>RESULTS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004E5B-4A5E-4C02-BDBF-D868A820B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0100"/>
            <a:ext cx="857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All three models produced interpretable emotional shifts, with different ranking behavior.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3EA24E-7118-4A67-BB3F-3887C6EBF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00200"/>
            <a:ext cx="8096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7727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7727E"/>
                </a:solidFill>
                <a:latin typeface="Aptos"/>
                <a:ea typeface="Aptos"/>
                <a:cs typeface="Aptos"/>
              </a:rPr>
              <a:t>Final rank score is a compact summary, not proof of human-like emotion understanding.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11EE9F-4E9C-4F3C-9395-24C39D2AA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Final rank score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AF0DE9-DB07-49CC-BACC-4E2847846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95625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Bielik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DEC102-2F8F-41CB-92EC-AA9EEAE5B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1242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D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3D7E3E-260A-46DE-B587-9A3706111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124200"/>
            <a:ext cx="312039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8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871132-FBCF-4235-90DD-975DAB9ED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76575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48A2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48A2C"/>
                </a:solidFill>
                <a:latin typeface="Aptos"/>
                <a:ea typeface="Aptos"/>
                <a:cs typeface="Aptos"/>
              </a:rPr>
              <a:t>0.182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7D0057-5246-4EE3-9266-F1CAD816B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00475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Gemini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75BD86-1F60-4C77-A763-F7F32E3A1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8290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D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1E9C66-8381-4084-8C46-C498FA4D0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829050"/>
            <a:ext cx="286321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9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E55C35-C8B5-4EBC-BDAD-1D76D8B8D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781425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6F9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F6F9F"/>
                </a:solidFill>
                <a:latin typeface="Aptos"/>
                <a:ea typeface="Aptos"/>
                <a:cs typeface="Aptos"/>
              </a:rPr>
              <a:t>0.167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84A2CE-42E1-4783-92DE-D9032EFB9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05325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Qwen3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780BBF-8328-414C-B9CA-8B9A03602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5339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D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565058-E56C-436A-A212-6AD540B4E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533900"/>
            <a:ext cx="270891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069366-22AC-4B47-AF88-6F6698635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486275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8A7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D8A7A"/>
                </a:solidFill>
                <a:latin typeface="Aptos"/>
                <a:ea typeface="Aptos"/>
                <a:cs typeface="Aptos"/>
              </a:rPr>
              <a:t>0.158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4A99A2-5812-444B-B642-0AD8F3A23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609850"/>
            <a:ext cx="3429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732F7D-7252-4651-8B34-09B1C5E48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384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Person + anger examples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EDDE4B-81F7-4D31-83F9-2B2E6C0B6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371850"/>
            <a:ext cx="819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48A2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48A2C"/>
                </a:solidFill>
                <a:latin typeface="Aptos"/>
                <a:ea typeface="Aptos"/>
                <a:cs typeface="Aptos"/>
              </a:rPr>
              <a:t>Bielik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117606-D474-4F4E-94D1-C08331554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71850"/>
            <a:ext cx="2000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annoying passenger</a:t>
            </a:r>
          </a:p>
          <a:p xmlns:a="http://schemas.openxmlformats.org/drawingml/2006/main">
            <a:pPr algn="l">
              <a:defRPr sz="120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cruel boss</a:t>
            </a:r>
          </a:p>
          <a:p xmlns:a="http://schemas.openxmlformats.org/drawingml/2006/main">
            <a:pPr algn="l">
              <a:defRPr sz="120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jealous rival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68DBDB-2D8A-4241-A538-3102F732B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152900"/>
            <a:ext cx="819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6F9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F6F9F"/>
                </a:solidFill>
                <a:latin typeface="Aptos"/>
                <a:ea typeface="Aptos"/>
                <a:cs typeface="Aptos"/>
              </a:rPr>
              <a:t>Gemini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E9A205-F09A-437D-93DF-C1701FB47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152900"/>
            <a:ext cx="2000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abusive bully</a:t>
            </a:r>
          </a:p>
          <a:p xmlns:a="http://schemas.openxmlformats.org/drawingml/2006/main">
            <a:pPr algn="l">
              <a:defRPr sz="120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angry customer</a:t>
            </a:r>
          </a:p>
          <a:p xmlns:a="http://schemas.openxmlformats.org/drawingml/2006/main">
            <a:pPr algn="l">
              <a:defRPr sz="120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jealous rival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96643C-4FCF-4D59-9C13-5A71ABEE6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6FB2BF-02D0-4B27-B2B9-69E3F224E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341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808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8087"/>
                </a:solidFill>
                <a:latin typeface="Aptos"/>
                <a:ea typeface="Aptos"/>
                <a:cs typeface="Aptos"/>
              </a:rPr>
              <a:t>Emotional Directions in Embedding Spaces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AA798C-4BA1-43D6-8480-48960D14C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1510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2F6F9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F6F9F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89434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DAAD2BE-F001-4569-9A08-2F8761FFD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5A103EA-0E06-479C-AD4A-5D688D4F3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8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666BE27-A41D-4E47-A0C0-FB7AB42FF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19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9C3C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C3CA"/>
                </a:solidFill>
                <a:latin typeface="Aptos"/>
                <a:ea typeface="Aptos"/>
                <a:cs typeface="Aptos"/>
              </a:rPr>
              <a:t>CONCLUSION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1F666D-FE48-4AF9-BC6F-F2846F0E8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0100"/>
            <a:ext cx="857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rPr>
              <a:t>Simple vector arithmetic can expose readable affective directions, but the interpretation should stay cautious.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FA2E57-8B8B-4457-97FD-EB8A703A1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19350"/>
            <a:ext cx="4286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631"/>
          </a:solidFill>
          <a:ln xmlns:a="http://schemas.openxmlformats.org/drawingml/2006/main" w="9525">
            <a:solidFill>
              <a:srgbClr val="30414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BEBC49-A6DA-4727-AD5F-0A3852568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266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48A2C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C48A2C"/>
                </a:solidFill>
                <a:latin typeface="Aptos"/>
                <a:ea typeface="Aptos"/>
                <a:cs typeface="Aptos"/>
              </a:rPr>
              <a:t>Limitations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EB6020-E1CB-45BF-957B-2F5426976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62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8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F0BD18-FDE4-4385-94A2-84073FD7F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295650"/>
            <a:ext cx="3238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DEE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7DEE3"/>
                </a:solidFill>
                <a:latin typeface="Aptos"/>
                <a:ea typeface="Aptos"/>
                <a:cs typeface="Aptos"/>
              </a:rPr>
              <a:t>Candidate lists are relatively small and artificial.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55E029-2565-4E5F-ACAD-92627C136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481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8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E4156D-ACFF-4B3C-899F-BB7F15E59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981450"/>
            <a:ext cx="3238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DEE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7DEE3"/>
                </a:solidFill>
                <a:latin typeface="Aptos"/>
                <a:ea typeface="Aptos"/>
                <a:cs typeface="Aptos"/>
              </a:rPr>
              <a:t>Bielik hidden-state pooling is non-standard.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B39DAD-BE5C-45C0-A110-CCCFEDD25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339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8A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FD2BFD-5FC5-4B8A-B6E8-E2A5184CE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66725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DEE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7DEE3"/>
                </a:solidFill>
                <a:latin typeface="Aptos"/>
                <a:ea typeface="Aptos"/>
                <a:cs typeface="Aptos"/>
              </a:rPr>
              <a:t>Similarity shows statistical structure, not human emotion understanding.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5E6C78-A6C5-4F17-81C7-604F8D0C7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19350"/>
            <a:ext cx="4286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14288">
            <a:solidFill>
              <a:srgbClr val="C48A2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276C82-5971-4CEE-ABE5-DBF319C43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743200"/>
            <a:ext cx="266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Takeaway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68FAAB-FB68-4303-88EC-340503C29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29000"/>
            <a:ext cx="3333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Emotion minus neutral can act as an interpretable direction in embedding space, and the strength of that direction varies by model architecture.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F78C6E-9B06-4E28-B10E-1524D0ADF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2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65A508-D557-44B1-B9AC-E0020C61F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341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EABB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EABB4"/>
                </a:solidFill>
                <a:latin typeface="Aptos"/>
                <a:ea typeface="Aptos"/>
                <a:cs typeface="Aptos"/>
              </a:rPr>
              <a:t>Emotional Directions in Embedding Spaces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A8A227-1478-4A2E-ACE4-AB206D04A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1510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C48A2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48A2C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0309177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2026-06-08T11:01:50.0520000Z</dcterms:created>
  <dcterms:modified xsi:type="dcterms:W3CDTF">2026-06-08T11:01:50.0520000Z</dcterms:modified>
</coreProperties>
</file>