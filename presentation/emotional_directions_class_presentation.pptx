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2179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Emotional directions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15214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ED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embedding spaces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57150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D0C9"/>
                </a:solidFill>
              </a:rPr>
              <a:t>A classroom walkthrough of vector arithmetic, emotion centroids, and model comparison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91440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6992" y="98298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food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41080" y="914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0C9"/>
                </a:solidFill>
              </a:rPr>
              <a:t>+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006840" y="91440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79992" y="98298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disgust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12680" y="914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0C9"/>
                </a:solidFill>
              </a:rPr>
              <a:t>-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378440" y="91440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51592" y="982980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neutral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41080" y="1600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BD0C9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06840" y="160020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166878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A2B"/>
                </a:solidFill>
              </a:rPr>
              <a:t>rotten food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06640" y="2743200"/>
            <a:ext cx="3474720" cy="1828800"/>
          </a:xfrm>
          <a:prstGeom prst="arc">
            <a:avLst/>
          </a:prstGeom>
          <a:noFill/>
          <a:ln w="25400">
            <a:solidFill>
              <a:srgbClr val="61B39E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703320"/>
            <a:ext cx="1920240" cy="-685800"/>
          </a:xfrm>
          <a:prstGeom prst="line">
            <a:avLst/>
          </a:prstGeom>
          <a:noFill/>
          <a:ln w="38100">
            <a:solidFill>
              <a:srgbClr val="D99A2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4380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DE7"/>
                </a:solidFill>
              </a:rPr>
              <a:t>category + emotion − neutral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basic idea: words and phrases as positions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Embedding models turn text into vectors. Similar meanings should live near each other.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87452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94310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food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25603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2628900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restaurant meal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17520" y="2057400"/>
            <a:ext cx="9052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42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12598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257"/>
                </a:solidFill>
              </a:rPr>
              <a:t>rotten food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2788920"/>
            <a:ext cx="10698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42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857500"/>
            <a:ext cx="923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257"/>
                </a:solidFill>
              </a:rPr>
              <a:t>hospital food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06640" y="201168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208026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8B8"/>
                </a:solidFill>
              </a:rPr>
              <a:t>friend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229600" y="2560320"/>
            <a:ext cx="1563624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6289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8B8"/>
                </a:solidFill>
              </a:rPr>
              <a:t>beloved grandmother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32320" y="4297680"/>
            <a:ext cx="13167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436626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dangerous street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0" y="3886200"/>
            <a:ext cx="7772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3954780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cemetery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" y="5349240"/>
            <a:ext cx="9966960" cy="0"/>
          </a:xfrm>
          <a:prstGeom prst="line">
            <a:avLst/>
          </a:prstGeom>
          <a:noFill/>
          <a:ln w="15240">
            <a:solidFill>
              <a:srgbClr val="D9E4D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5349240"/>
            <a:ext cx="0" cy="-4114800"/>
          </a:xfrm>
          <a:prstGeom prst="line">
            <a:avLst/>
          </a:prstGeom>
          <a:noFill/>
          <a:ln w="15240">
            <a:solidFill>
              <a:srgbClr val="D9E4D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5800" y="580644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C"/>
                </a:solidFill>
              </a:rPr>
              <a:t>A vector space is not a map of the mind, but it is a useful geometry of language.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centroids?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Single words are brittle; averaging related seeds gives a more stable target.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C66"/>
                </a:solidFill>
              </a:rPr>
              <a:t>Emotion centroid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1742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feeling disgusted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258775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65633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feeling revolted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2666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09524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feeling repulsed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889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1C"/>
                </a:solidFill>
              </a:rPr>
              <a:t>mean vector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4600" y="2606040"/>
            <a:ext cx="1783080" cy="0"/>
          </a:xfrm>
          <a:prstGeom prst="line">
            <a:avLst/>
          </a:prstGeom>
          <a:noFill/>
          <a:ln w="30480">
            <a:solidFill>
              <a:srgbClr val="0F7C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80560" y="24231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4917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disgust centroid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4652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7516"/>
                </a:solidFill>
              </a:rPr>
              <a:t>Neutral centroid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46520" y="20574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12598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neutral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46520" y="244144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510028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ordinary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46520" y="282549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289407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plain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46520" y="3209544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27812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average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63840" y="2606040"/>
            <a:ext cx="1783080" cy="0"/>
          </a:xfrm>
          <a:prstGeom prst="line">
            <a:avLst/>
          </a:prstGeom>
          <a:noFill/>
          <a:ln w="30480">
            <a:solidFill>
              <a:srgbClr val="B8751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29800" y="24231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02952" y="24917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neutral centroid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</a:rPr>
              <a:t>Final operation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C"/>
                </a:solidFill>
              </a:rPr>
              <a:t>embedding(category) + mean(emotion phrases) − mean(neutral terms)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Same categories, emotions, languages, and controls across models.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66"/>
                </a:solidFill>
              </a:rPr>
              <a:t>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Gemini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Qwen3-Embedding-8B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026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Bielik hidden states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MMLW-RoBERTa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66"/>
                </a:solidFill>
              </a:rPr>
              <a:t>Languages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English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Polish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3026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Chinese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66"/>
                </a:solidFill>
              </a:rPr>
              <a:t>Categories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food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person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3026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object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3419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place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situation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66"/>
                </a:solidFill>
              </a:rPr>
              <a:t>Emotion labels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240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10 labels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52560" y="26334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discrete + broad affective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52560" y="3026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1C"/>
                </a:solidFill>
              </a:rPr>
              <a:t>centroid phrases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" y="4389120"/>
            <a:ext cx="10698480" cy="0"/>
          </a:xfrm>
          <a:prstGeom prst="line">
            <a:avLst/>
          </a:prstGeom>
          <a:noFill/>
          <a:ln w="12700">
            <a:solidFill>
              <a:srgbClr val="D9E4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C"/>
                </a:solidFill>
              </a:rPr>
              <a:t>Controls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874520" y="4754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48234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C66"/>
                </a:solidFill>
              </a:rPr>
              <a:t>emotion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0" y="4754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48234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8B8"/>
                </a:solidFill>
              </a:rPr>
              <a:t>identity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06440" y="4754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9592" y="48234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7516"/>
                </a:solidFill>
              </a:rPr>
              <a:t>random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72400" y="47548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B842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48234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4257"/>
                </a:solidFill>
              </a:rPr>
              <a:t>shuffled emotion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" y="55321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06A"/>
                </a:solidFill>
              </a:rPr>
              <a:t>The shuffled-emotion control is the hardest check: it asks whether the model separates the target emotion from another emotion, not just emotion from neutral.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Examples: the operation often gives intuitive neighbors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Top candidates for Gemini and Qwen in English and Polish.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257"/>
                </a:solidFill>
              </a:rPr>
              <a:t>food + disgust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88920" y="16002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1C"/>
                </a:solidFill>
              </a:rPr>
              <a:t>rotten food · spoiled milk · zepsute jedzenie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9875520" cy="0"/>
          </a:xfrm>
          <a:prstGeom prst="line">
            <a:avLst/>
          </a:prstGeom>
          <a:noFill/>
          <a:ln w="8890">
            <a:solidFill>
              <a:srgbClr val="D9E4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66"/>
                </a:solidFill>
              </a:rPr>
              <a:t>person + love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88920" y="2606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1C"/>
                </a:solidFill>
              </a:rPr>
              <a:t>friend · beloved grandmother · kochana babcia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9875520" cy="0"/>
          </a:xfrm>
          <a:prstGeom prst="line">
            <a:avLst/>
          </a:prstGeom>
          <a:noFill/>
          <a:ln w="8890">
            <a:solidFill>
              <a:srgbClr val="D9E4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516"/>
                </a:solidFill>
              </a:rPr>
              <a:t>place + fear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3611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1C"/>
                </a:solidFill>
              </a:rPr>
              <a:t>dangerous street · cemetery · niebezpieczna ulica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9875520" cy="0"/>
          </a:xfrm>
          <a:prstGeom prst="line">
            <a:avLst/>
          </a:prstGeom>
          <a:noFill/>
          <a:ln w="8890">
            <a:solidFill>
              <a:srgbClr val="D9E4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8B8"/>
                </a:solidFill>
              </a:rPr>
              <a:t>situation + excitement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8892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1C"/>
                </a:solidFill>
              </a:rPr>
              <a:t>hearing good news · celebration · świętowanie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9875520" cy="0"/>
          </a:xfrm>
          <a:prstGeom prst="line">
            <a:avLst/>
          </a:prstGeom>
          <a:noFill/>
          <a:ln w="8890">
            <a:solidFill>
              <a:srgbClr val="D9E4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8064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These are nearest neighbors from category-specific candidate lists, so category retention is controlled by design.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choice: phrase centroids win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The supplementary run compared centroid phrases against single-word emotion seeds.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019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centroid_phrases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80360" y="1920240"/>
            <a:ext cx="594360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1920240"/>
            <a:ext cx="5943600" cy="109728"/>
          </a:xfrm>
          <a:prstGeom prst="rect">
            <a:avLst/>
          </a:prstGeom>
          <a:solidFill>
            <a:srgbClr val="0F7C66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0" y="18790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0.228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587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single_word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606040"/>
            <a:ext cx="594360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606040"/>
            <a:ext cx="5013365" cy="109728"/>
          </a:xfrm>
          <a:prstGeom prst="rect">
            <a:avLst/>
          </a:prstGeom>
          <a:solidFill>
            <a:srgbClr val="B87516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25648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0.192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39593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706A"/>
                </a:solidFill>
              </a:rPr>
              <a:t>Centroid phrases combine context with seed stability. Single words remain useful as a robustness check for discrete-emotion specificity.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Final score combines projection and control deltas.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Bielik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88920" y="1737360"/>
            <a:ext cx="566928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1737360"/>
            <a:ext cx="5669280" cy="109728"/>
          </a:xfrm>
          <a:prstGeom prst="rect">
            <a:avLst/>
          </a:prstGeom>
          <a:solidFill>
            <a:srgbClr val="B87516"/>
          </a:solidFill>
          <a:ln w="12700">
            <a:solidFill>
              <a:srgbClr val="B875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6962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0.182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24942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gemini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267712"/>
            <a:ext cx="566928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267712"/>
            <a:ext cx="5211879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22656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0.168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" y="27797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Qwen3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2798064"/>
            <a:ext cx="566928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798064"/>
            <a:ext cx="4919392" cy="109728"/>
          </a:xfrm>
          <a:prstGeom prst="rect">
            <a:avLst/>
          </a:prstGeom>
          <a:solidFill>
            <a:srgbClr val="0F7C66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7569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0.158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MMLW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88920" y="3328416"/>
            <a:ext cx="566928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3328416"/>
            <a:ext cx="1418876" cy="109728"/>
          </a:xfrm>
          <a:prstGeom prst="rect">
            <a:avLst/>
          </a:prstGeom>
          <a:solidFill>
            <a:srgbClr val="B84257"/>
          </a:solidFill>
          <a:ln w="12700">
            <a:solidFill>
              <a:srgbClr val="B842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32872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0.046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C"/>
                </a:solidFill>
              </a:rPr>
              <a:t>Takeaway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27939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706A"/>
                </a:solidFill>
              </a:rPr>
              <a:t>Gemini and Qwen are the cleanest embedding-model comparison. Bielik is interesting as an exploratory hidden-state condition; MMLW-RoBERTa should not support cross-lingual claims here.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emotions separated best?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Delta against the shuffled-emotion control is the most direct specificity check.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positive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600200"/>
            <a:ext cx="1320951" cy="109728"/>
          </a:xfrm>
          <a:prstGeom prst="rect">
            <a:avLst/>
          </a:prstGeom>
          <a:solidFill>
            <a:srgbClr val="0F7C66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5590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21305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negative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14884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148840"/>
            <a:ext cx="933776" cy="109728"/>
          </a:xfrm>
          <a:prstGeom prst="rect">
            <a:avLst/>
          </a:prstGeom>
          <a:solidFill>
            <a:srgbClr val="0F7C66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1076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6791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amusement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269748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697480"/>
            <a:ext cx="717413" cy="109728"/>
          </a:xfrm>
          <a:prstGeom prst="rect">
            <a:avLst/>
          </a:prstGeom>
          <a:solidFill>
            <a:srgbClr val="0F7C66"/>
          </a:solidFill>
          <a:ln w="12700">
            <a:solidFill>
              <a:srgbClr val="0F7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26563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3227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anger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324612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246120"/>
            <a:ext cx="580763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2049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37764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disgust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79476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794760"/>
            <a:ext cx="3063240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7536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0.027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5080" y="15819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excitement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21040" y="160020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1600200"/>
            <a:ext cx="967938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75720" y="15590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21305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fear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21040" y="214884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2148840"/>
            <a:ext cx="1753676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75720" y="210769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0.015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55080" y="26791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joy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21040" y="269748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2697480"/>
            <a:ext cx="1446214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75720" y="265633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0.013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3227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love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321040" y="324612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3246120"/>
            <a:ext cx="751576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75720" y="32049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0.007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80" y="37764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01C"/>
                </a:solidFill>
              </a:rPr>
              <a:t>sadness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21040" y="3794760"/>
            <a:ext cx="3063240" cy="109728"/>
          </a:xfrm>
          <a:prstGeom prst="rect">
            <a:avLst/>
          </a:prstGeom>
          <a:solidFill>
            <a:srgbClr val="E8F0EB"/>
          </a:solidFill>
          <a:ln w="12700">
            <a:solidFill>
              <a:srgbClr val="E8F0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3794760"/>
            <a:ext cx="387175" cy="109728"/>
          </a:xfrm>
          <a:prstGeom prst="rect">
            <a:avLst/>
          </a:prstGeom>
          <a:solidFill>
            <a:srgbClr val="2F68B8"/>
          </a:solidFill>
          <a:ln w="12700">
            <a:solidFill>
              <a:srgbClr val="2F68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75720" y="375361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706A"/>
                </a:solidFill>
              </a:rPr>
              <a:t>0.003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72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06A"/>
                </a:solidFill>
              </a:rPr>
              <a:t>Positive and negative are broad affective poles. The remaining labels are discrete emotions shown alphabetically.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DD6"/>
                </a:solidFill>
              </a:rPr>
              <a:t>Use the browser app to switch model, language, category, and emotion, then compare outputs side by side.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3454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Model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0" y="19659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203454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Language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203454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Category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0" y="196596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61B3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203454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1B39E"/>
                </a:solidFill>
              </a:rPr>
              <a:t>Emotion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Ask the class: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54787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DE7"/>
                </a:solidFill>
              </a:rPr>
              <a:t>Which outputs look interpretable?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98678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DE7"/>
                </a:solidFill>
              </a:rPr>
              <a:t>Where does Polish behave differently from English?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42569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DE7"/>
                </a:solidFill>
              </a:rPr>
              <a:t>Which model confuses broad valence with discrete emotion?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833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C47B"/>
                </a:solidFill>
              </a:rPr>
              <a:t>class_app/index.html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0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can and cannot claim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6868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06A"/>
                </a:solidFill>
              </a:rPr>
              <a:t>This is a geometry-of-language experiment, not a direct map of human emotion.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097280" cy="0"/>
          </a:xfrm>
          <a:prstGeom prst="line">
            <a:avLst/>
          </a:prstGeom>
          <a:noFill/>
          <a:ln w="27940">
            <a:solidFill>
              <a:srgbClr val="0F7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66"/>
                </a:solidFill>
              </a:rPr>
              <a:t>Category retention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</a:rPr>
              <a:t>Search was constrained to category-specific candidate lists.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66"/>
                </a:solidFill>
              </a:rPr>
              <a:t>Positive / negative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24688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</a:rPr>
              <a:t>These are broad affective poles, not discrete emotions.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66"/>
                </a:solidFill>
              </a:rPr>
              <a:t>Bielik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33375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</a:rPr>
              <a:t>Useful Polish LLM condition, but hidden-state pooling is experimental.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66"/>
                </a:solidFill>
              </a:rPr>
              <a:t>Next step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42062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1C"/>
                </a:solidFill>
              </a:rPr>
              <a:t>Manual ratings: category fit, emotion fit, interpretability.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918A"/>
                </a:solidFill>
              </a:rPr>
              <a:t>Emotional directions project · final run, 10 emotion labels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Emotional directions in embedding spaces</dc:title>
  <dc:subject>Class presentation</dc:subject>
  <dc:creator>Emotional Directions Project</dc:creator>
  <cp:lastModifiedBy>Emotional Directions Project</cp:lastModifiedBy>
  <cp:revision>1</cp:revision>
  <dcterms:created xsi:type="dcterms:W3CDTF">2026-05-26T08:25:24Z</dcterms:created>
  <dcterms:modified xsi:type="dcterms:W3CDTF">2026-05-26T08:25:24Z</dcterms:modified>
</cp:coreProperties>
</file>