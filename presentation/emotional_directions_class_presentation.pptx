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21792"/>
            <a:ext cx="7132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Emotional directions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152144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CED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 embedding spaces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5715000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BD0C9"/>
                </a:solidFill>
              </a:rPr>
              <a:t>A classroom walkthrough of vector arithmetic, emotion centroids, and model comparison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91440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1B3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36992" y="982980"/>
            <a:ext cx="722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1B39E"/>
                </a:solidFill>
              </a:rPr>
              <a:t>food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641080" y="91440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BD0C9"/>
                </a:solidFill>
              </a:rPr>
              <a:t>+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006840" y="91440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1B3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9992" y="982980"/>
            <a:ext cx="722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1B39E"/>
                </a:solidFill>
              </a:rPr>
              <a:t>disgust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012680" y="91440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BD0C9"/>
                </a:solidFill>
              </a:rPr>
              <a:t>-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378440" y="91440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1B3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51592" y="982980"/>
            <a:ext cx="722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1B39E"/>
                </a:solidFill>
              </a:rPr>
              <a:t>neutral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641080" y="160020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BD0C9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006840" y="1600200"/>
            <a:ext cx="14630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79992" y="1668780"/>
            <a:ext cx="13167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9A2B"/>
                </a:solidFill>
              </a:rPr>
              <a:t>rotten food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406640" y="2743200"/>
            <a:ext cx="3474720" cy="1828800"/>
          </a:xfrm>
          <a:prstGeom prst="arc">
            <a:avLst/>
          </a:prstGeom>
          <a:noFill/>
          <a:ln w="25400">
            <a:solidFill>
              <a:srgbClr val="61B39E">
                <a:alpha val="8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0" y="3703320"/>
            <a:ext cx="1920240" cy="-685800"/>
          </a:xfrm>
          <a:prstGeom prst="line">
            <a:avLst/>
          </a:prstGeom>
          <a:noFill/>
          <a:ln w="38100">
            <a:solidFill>
              <a:srgbClr val="D99A2B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7543800" y="5074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CEDE7"/>
                </a:solidFill>
              </a:rPr>
              <a:t>category + emotion − neutral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basic idea: words and phrases as positions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686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A"/>
                </a:solidFill>
              </a:rPr>
              <a:t>Embedding models turn text into vectors. Similar meanings should live near each other.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1097280" cy="0"/>
          </a:xfrm>
          <a:prstGeom prst="line">
            <a:avLst/>
          </a:prstGeom>
          <a:noFill/>
          <a:ln w="27940">
            <a:solidFill>
              <a:srgbClr val="0F7C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1874520"/>
            <a:ext cx="7772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0F7C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4712" y="1943100"/>
            <a:ext cx="630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C66"/>
                </a:solidFill>
              </a:rPr>
              <a:t>food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011680" y="2560320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0F7C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84832" y="2628900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C66"/>
                </a:solidFill>
              </a:rPr>
              <a:t>restaurant meal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017520" y="2057400"/>
            <a:ext cx="905256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B842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90672" y="2125980"/>
            <a:ext cx="758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4257"/>
                </a:solidFill>
              </a:rPr>
              <a:t>rotten food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749040" y="2788920"/>
            <a:ext cx="106984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B842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22192" y="2857500"/>
            <a:ext cx="923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4257"/>
                </a:solidFill>
              </a:rPr>
              <a:t>hospital food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406640" y="2011680"/>
            <a:ext cx="7772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2F68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79792" y="2080260"/>
            <a:ext cx="630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68B8"/>
                </a:solidFill>
              </a:rPr>
              <a:t>friend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229600" y="2560320"/>
            <a:ext cx="1563624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2F68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02752" y="2628900"/>
            <a:ext cx="1417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68B8"/>
                </a:solidFill>
              </a:rPr>
              <a:t>beloved grandmother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132320" y="4297680"/>
            <a:ext cx="1316736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B875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05472" y="4366260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7516"/>
                </a:solidFill>
              </a:rPr>
              <a:t>dangerous street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778240" y="3886200"/>
            <a:ext cx="7772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B8751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51392" y="3954780"/>
            <a:ext cx="630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7516"/>
                </a:solidFill>
              </a:rPr>
              <a:t>cemetery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914400" y="5349240"/>
            <a:ext cx="9966960" cy="0"/>
          </a:xfrm>
          <a:prstGeom prst="line">
            <a:avLst/>
          </a:prstGeom>
          <a:noFill/>
          <a:ln w="15240">
            <a:solidFill>
              <a:srgbClr val="D9E4DD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14400" y="5349240"/>
            <a:ext cx="0" cy="-4114800"/>
          </a:xfrm>
          <a:prstGeom prst="line">
            <a:avLst/>
          </a:prstGeom>
          <a:noFill/>
          <a:ln w="15240">
            <a:solidFill>
              <a:srgbClr val="D9E4DD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685800" y="5806440"/>
            <a:ext cx="9784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1C"/>
                </a:solidFill>
              </a:rPr>
              <a:t>A vector space is not a map of the mind, but it is a useful geometry of language.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918A"/>
                </a:solidFill>
              </a:rPr>
              <a:t>Emotional directions project · final run, 10 emotion labels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centroids?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686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A"/>
                </a:solidFill>
              </a:rPr>
              <a:t>Single words are brittle; averaging related seeds gives a more stable target.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1097280" cy="0"/>
          </a:xfrm>
          <a:prstGeom prst="line">
            <a:avLst/>
          </a:prstGeom>
          <a:noFill/>
          <a:ln w="27940">
            <a:solidFill>
              <a:srgbClr val="0F7C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916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C66"/>
                </a:solidFill>
              </a:rPr>
              <a:t>Emotion centroid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77240" y="214884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0F7C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221742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C66"/>
                </a:solidFill>
              </a:rPr>
              <a:t>feeling disgusted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77240" y="258775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0F7C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656332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C66"/>
                </a:solidFill>
              </a:rPr>
              <a:t>feeling revolted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3026664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0F7C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3095244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C66"/>
                </a:solidFill>
              </a:rPr>
              <a:t>feeling repulsed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788920" y="25146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1C"/>
                </a:solidFill>
              </a:rPr>
              <a:t>mean vector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14600" y="2606040"/>
            <a:ext cx="1783080" cy="0"/>
          </a:xfrm>
          <a:prstGeom prst="line">
            <a:avLst/>
          </a:prstGeom>
          <a:noFill/>
          <a:ln w="30480">
            <a:solidFill>
              <a:srgbClr val="0F7C6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480560" y="242316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0F7C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3712" y="249174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C66"/>
                </a:solidFill>
              </a:rPr>
              <a:t>disgust centroid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446520" y="16916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7516"/>
                </a:solidFill>
              </a:rPr>
              <a:t>Neutral centroid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46520" y="2057400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B875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9672" y="2125980"/>
            <a:ext cx="996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7516"/>
                </a:solidFill>
              </a:rPr>
              <a:t>neutral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46520" y="2441448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B8751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19672" y="2510028"/>
            <a:ext cx="996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7516"/>
                </a:solidFill>
              </a:rPr>
              <a:t>ordinary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46520" y="2825496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B8751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9672" y="2894076"/>
            <a:ext cx="996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7516"/>
                </a:solidFill>
              </a:rPr>
              <a:t>plain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446520" y="3209544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B8751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19672" y="3278124"/>
            <a:ext cx="996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7516"/>
                </a:solidFill>
              </a:rPr>
              <a:t>average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863840" y="2606040"/>
            <a:ext cx="1783080" cy="0"/>
          </a:xfrm>
          <a:prstGeom prst="line">
            <a:avLst/>
          </a:prstGeom>
          <a:noFill/>
          <a:ln w="30480">
            <a:solidFill>
              <a:srgbClr val="B87516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829800" y="242316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B8751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02952" y="249174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7516"/>
                </a:solidFill>
              </a:rPr>
              <a:t>neutral centroid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77240" y="46634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1C"/>
                </a:solidFill>
              </a:rPr>
              <a:t>Final operation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2011680" y="464515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1C"/>
                </a:solidFill>
              </a:rPr>
              <a:t>embedding(category) + mean(emotion phrases) − mean(neutral terms)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918A"/>
                </a:solidFill>
              </a:rPr>
              <a:t>Emotional directions project · final run, 10 emotion labels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Experiment design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686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A"/>
                </a:solidFill>
              </a:rPr>
              <a:t>Same categories, emotions, languages, and controls across models.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1097280" cy="0"/>
          </a:xfrm>
          <a:prstGeom prst="line">
            <a:avLst/>
          </a:prstGeom>
          <a:noFill/>
          <a:ln w="27940">
            <a:solidFill>
              <a:srgbClr val="0F7C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830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C66"/>
                </a:solidFill>
              </a:rPr>
              <a:t>Models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22402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1C"/>
                </a:solidFill>
              </a:rPr>
              <a:t>Gemini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85800" y="263347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1C"/>
                </a:solidFill>
              </a:rPr>
              <a:t>Qwen3-Embedding-8B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30266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1C"/>
                </a:solidFill>
              </a:rPr>
              <a:t>Arctic Embed L v2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341985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1C"/>
                </a:solidFill>
              </a:rPr>
              <a:t>Bielik hidden states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38130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1C"/>
                </a:solidFill>
              </a:rPr>
              <a:t>MMLW-RoBERTa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474720" y="17830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C66"/>
                </a:solidFill>
              </a:rPr>
              <a:t>Languages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74720" y="22402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1C"/>
                </a:solidFill>
              </a:rPr>
              <a:t>English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474720" y="263347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1C"/>
                </a:solidFill>
              </a:rPr>
              <a:t>Polish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74720" y="30266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1C"/>
                </a:solidFill>
              </a:rPr>
              <a:t>Chinese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17830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C66"/>
                </a:solidFill>
              </a:rPr>
              <a:t>Categories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63640" y="22402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1C"/>
                </a:solidFill>
              </a:rPr>
              <a:t>food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263640" y="263347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1C"/>
                </a:solidFill>
              </a:rPr>
              <a:t>person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263640" y="30266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1C"/>
                </a:solidFill>
              </a:rPr>
              <a:t>object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341985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1C"/>
                </a:solidFill>
              </a:rPr>
              <a:t>place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63640" y="38130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1C"/>
                </a:solidFill>
              </a:rPr>
              <a:t>situation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052560" y="17830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C66"/>
                </a:solidFill>
              </a:rPr>
              <a:t>Emotion labels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52560" y="22402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1C"/>
                </a:solidFill>
              </a:rPr>
              <a:t>10 labels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052560" y="263347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1C"/>
                </a:solidFill>
              </a:rPr>
              <a:t>discrete + broad affective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052560" y="30266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01C"/>
                </a:solidFill>
              </a:rPr>
              <a:t>centroid phrases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49808" y="4389120"/>
            <a:ext cx="10698480" cy="0"/>
          </a:xfrm>
          <a:prstGeom prst="line">
            <a:avLst/>
          </a:prstGeom>
          <a:noFill/>
          <a:ln w="12700">
            <a:solidFill>
              <a:srgbClr val="D9E4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8280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1C"/>
                </a:solidFill>
              </a:rPr>
              <a:t>Controls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874520" y="475488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0F7C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47672" y="482346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C66"/>
                </a:solidFill>
              </a:rPr>
              <a:t>emotion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840480" y="475488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2F68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13632" y="482346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68B8"/>
                </a:solidFill>
              </a:rPr>
              <a:t>identity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806440" y="475488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B8751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79592" y="482346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7516"/>
                </a:solidFill>
              </a:rPr>
              <a:t>random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772400" y="475488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B8425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45552" y="4823460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4257"/>
                </a:solidFill>
              </a:rPr>
              <a:t>shuffled emotion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77240" y="5532120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A"/>
                </a:solidFill>
              </a:rPr>
              <a:t>The shuffled-emotion control is the hardest check: it asks whether the model separates the target emotion from another emotion, not just emotion from neutral.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918A"/>
                </a:solidFill>
              </a:rPr>
              <a:t>Emotional directions project · final run, 10 emotion labels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Examples: the operation often gives intuitive neighbors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686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A"/>
                </a:solidFill>
              </a:rPr>
              <a:t>Top candidates for Gemini and Qwen in English and Polish.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1097280" cy="0"/>
          </a:xfrm>
          <a:prstGeom prst="line">
            <a:avLst/>
          </a:prstGeom>
          <a:noFill/>
          <a:ln w="27940">
            <a:solidFill>
              <a:srgbClr val="0F7C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4257"/>
                </a:solidFill>
              </a:rPr>
              <a:t>food + disgust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88920" y="1600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01C"/>
                </a:solidFill>
              </a:rPr>
              <a:t>rotten food · spoiled milk · zepsute jedzenie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011680"/>
            <a:ext cx="9875520" cy="0"/>
          </a:xfrm>
          <a:prstGeom prst="line">
            <a:avLst/>
          </a:prstGeom>
          <a:noFill/>
          <a:ln w="8890">
            <a:solidFill>
              <a:srgbClr val="D9E4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06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66"/>
                </a:solidFill>
              </a:rPr>
              <a:t>person + love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788920" y="26060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01C"/>
                </a:solidFill>
              </a:rPr>
              <a:t>friend · beloved grandmother · kochana babcia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017520"/>
            <a:ext cx="9875520" cy="0"/>
          </a:xfrm>
          <a:prstGeom prst="line">
            <a:avLst/>
          </a:prstGeom>
          <a:noFill/>
          <a:ln w="8890">
            <a:solidFill>
              <a:srgbClr val="D9E4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611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516"/>
                </a:solidFill>
              </a:rPr>
              <a:t>place + fear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788920" y="361188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01C"/>
                </a:solidFill>
              </a:rPr>
              <a:t>dangerous street · cemetery · niebezpieczna ulica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023360"/>
            <a:ext cx="9875520" cy="0"/>
          </a:xfrm>
          <a:prstGeom prst="line">
            <a:avLst/>
          </a:prstGeom>
          <a:noFill/>
          <a:ln w="8890">
            <a:solidFill>
              <a:srgbClr val="D9E4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6177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8B8"/>
                </a:solidFill>
              </a:rPr>
              <a:t>situation + excitement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788920" y="46177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01C"/>
                </a:solidFill>
              </a:rPr>
              <a:t>hearing good news · celebration · świętowanie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9875520" cy="0"/>
          </a:xfrm>
          <a:prstGeom prst="line">
            <a:avLst/>
          </a:prstGeom>
          <a:noFill/>
          <a:ln w="8890">
            <a:solidFill>
              <a:srgbClr val="D9E4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80644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A"/>
                </a:solidFill>
              </a:rPr>
              <a:t>These are nearest neighbors from category-specific candidate lists, so category retention is controlled by design.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918A"/>
                </a:solidFill>
              </a:rPr>
              <a:t>Emotional directions project · final run, 10 emotion labels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Strategy choice: phrase centroids win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686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A"/>
                </a:solidFill>
              </a:rPr>
              <a:t>The supplementary run compared centroid phrases against single-word emotion seeds.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1097280" cy="0"/>
          </a:xfrm>
          <a:prstGeom prst="line">
            <a:avLst/>
          </a:prstGeom>
          <a:noFill/>
          <a:ln w="27940">
            <a:solidFill>
              <a:srgbClr val="0F7C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0195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201C"/>
                </a:solidFill>
              </a:rPr>
              <a:t>centroid_phrases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880360" y="1920240"/>
            <a:ext cx="5943600" cy="109728"/>
          </a:xfrm>
          <a:prstGeom prst="rect">
            <a:avLst/>
          </a:prstGeom>
          <a:solidFill>
            <a:srgbClr val="E8F0EB"/>
          </a:solidFill>
          <a:ln w="12700">
            <a:solidFill>
              <a:srgbClr val="E8F0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80360" y="1920240"/>
            <a:ext cx="5943600" cy="109728"/>
          </a:xfrm>
          <a:prstGeom prst="rect">
            <a:avLst/>
          </a:prstGeom>
          <a:solidFill>
            <a:srgbClr val="0F7C66"/>
          </a:solidFill>
          <a:ln w="12700">
            <a:solidFill>
              <a:srgbClr val="0F7C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15400" y="187909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706A"/>
                </a:solidFill>
              </a:rPr>
              <a:t>0.228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14400" y="258775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201C"/>
                </a:solidFill>
              </a:rPr>
              <a:t>single_word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80360" y="2606040"/>
            <a:ext cx="5943600" cy="109728"/>
          </a:xfrm>
          <a:prstGeom prst="rect">
            <a:avLst/>
          </a:prstGeom>
          <a:solidFill>
            <a:srgbClr val="E8F0EB"/>
          </a:solidFill>
          <a:ln w="12700">
            <a:solidFill>
              <a:srgbClr val="E8F0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80360" y="2606040"/>
            <a:ext cx="5013365" cy="109728"/>
          </a:xfrm>
          <a:prstGeom prst="rect">
            <a:avLst/>
          </a:prstGeom>
          <a:solidFill>
            <a:srgbClr val="B87516"/>
          </a:solidFill>
          <a:ln w="12700">
            <a:solidFill>
              <a:srgbClr val="B875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15400" y="256489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706A"/>
                </a:solidFill>
              </a:rPr>
              <a:t>0.192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39776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1C"/>
                </a:solidFill>
              </a:rPr>
              <a:t>Interpretation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148840" y="395935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706A"/>
                </a:solidFill>
              </a:rPr>
              <a:t>Centroid phrases combine context with seed stability. Single words remain useful as a robustness check for discrete-emotion specificity.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918A"/>
                </a:solidFill>
              </a:rPr>
              <a:t>Emotional directions project · final run, 10 emotion labels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comparison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686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A"/>
                </a:solidFill>
              </a:rPr>
              <a:t>Final score combines projection and control deltas.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1097280" cy="0"/>
          </a:xfrm>
          <a:prstGeom prst="line">
            <a:avLst/>
          </a:prstGeom>
          <a:noFill/>
          <a:ln w="27940">
            <a:solidFill>
              <a:srgbClr val="0F7C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1907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201C"/>
                </a:solidFill>
              </a:rPr>
              <a:t>Bielik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88920" y="1737360"/>
            <a:ext cx="5669280" cy="109728"/>
          </a:xfrm>
          <a:prstGeom prst="rect">
            <a:avLst/>
          </a:prstGeom>
          <a:solidFill>
            <a:srgbClr val="E8F0EB"/>
          </a:solidFill>
          <a:ln w="12700">
            <a:solidFill>
              <a:srgbClr val="E8F0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88920" y="1737360"/>
            <a:ext cx="5669280" cy="109728"/>
          </a:xfrm>
          <a:prstGeom prst="rect">
            <a:avLst/>
          </a:prstGeom>
          <a:solidFill>
            <a:srgbClr val="B87516"/>
          </a:solidFill>
          <a:ln w="12700">
            <a:solidFill>
              <a:srgbClr val="B875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49640" y="169621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706A"/>
                </a:solidFill>
              </a:rPr>
              <a:t>0.182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22960" y="2249424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201C"/>
                </a:solidFill>
              </a:rPr>
              <a:t>gemini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88920" y="2267712"/>
            <a:ext cx="5669280" cy="109728"/>
          </a:xfrm>
          <a:prstGeom prst="rect">
            <a:avLst/>
          </a:prstGeom>
          <a:solidFill>
            <a:srgbClr val="E8F0EB"/>
          </a:solidFill>
          <a:ln w="12700">
            <a:solidFill>
              <a:srgbClr val="E8F0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88920" y="2267712"/>
            <a:ext cx="5211879" cy="109728"/>
          </a:xfrm>
          <a:prstGeom prst="rect">
            <a:avLst/>
          </a:prstGeom>
          <a:solidFill>
            <a:srgbClr val="2F68B8"/>
          </a:solidFill>
          <a:ln w="12700">
            <a:solidFill>
              <a:srgbClr val="2F68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49640" y="2226564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706A"/>
                </a:solidFill>
              </a:rPr>
              <a:t>0.168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22960" y="277977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201C"/>
                </a:solidFill>
              </a:rPr>
              <a:t>Qwen3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88920" y="2798064"/>
            <a:ext cx="5669280" cy="109728"/>
          </a:xfrm>
          <a:prstGeom prst="rect">
            <a:avLst/>
          </a:prstGeom>
          <a:solidFill>
            <a:srgbClr val="E8F0EB"/>
          </a:solidFill>
          <a:ln w="12700">
            <a:solidFill>
              <a:srgbClr val="E8F0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88920" y="2798064"/>
            <a:ext cx="4919392" cy="109728"/>
          </a:xfrm>
          <a:prstGeom prst="rect">
            <a:avLst/>
          </a:prstGeom>
          <a:solidFill>
            <a:srgbClr val="0F7C66"/>
          </a:solidFill>
          <a:ln w="12700">
            <a:solidFill>
              <a:srgbClr val="0F7C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49640" y="275691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706A"/>
                </a:solidFill>
              </a:rPr>
              <a:t>0.158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" y="3310128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201C"/>
                </a:solidFill>
              </a:rPr>
              <a:t>MMLW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88920" y="3328416"/>
            <a:ext cx="5669280" cy="109728"/>
          </a:xfrm>
          <a:prstGeom prst="rect">
            <a:avLst/>
          </a:prstGeom>
          <a:solidFill>
            <a:srgbClr val="E8F0EB"/>
          </a:solidFill>
          <a:ln w="12700">
            <a:solidFill>
              <a:srgbClr val="E8F0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88920" y="3328416"/>
            <a:ext cx="1418876" cy="109728"/>
          </a:xfrm>
          <a:prstGeom prst="rect">
            <a:avLst/>
          </a:prstGeom>
          <a:solidFill>
            <a:srgbClr val="B84257"/>
          </a:solidFill>
          <a:ln w="12700">
            <a:solidFill>
              <a:srgbClr val="B842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49640" y="3287268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706A"/>
                </a:solidFill>
              </a:rPr>
              <a:t>0.046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2960" y="42976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1C"/>
                </a:solidFill>
              </a:rPr>
              <a:t>Takeaway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828800" y="427939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706A"/>
                </a:solidFill>
              </a:rPr>
              <a:t>Gemini, Qwen, and Arctic are the cleanest embedding-model comparison. Bielik is interesting as an exploratory hidden-state condition; MMLW-RoBERTa should not support cross-lingual claims here.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918A"/>
                </a:solidFill>
              </a:rPr>
              <a:t>Emotional directions project · final run, 10 emotion labels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Which emotions separated best?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686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A"/>
                </a:solidFill>
              </a:rPr>
              <a:t>Delta against the shuffled-emotion control is the most direct specificity check.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1097280" cy="0"/>
          </a:xfrm>
          <a:prstGeom prst="line">
            <a:avLst/>
          </a:prstGeom>
          <a:noFill/>
          <a:ln w="27940">
            <a:solidFill>
              <a:srgbClr val="0F7C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819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201C"/>
                </a:solidFill>
              </a:rPr>
              <a:t>positive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0" y="1600200"/>
            <a:ext cx="3063240" cy="109728"/>
          </a:xfrm>
          <a:prstGeom prst="rect">
            <a:avLst/>
          </a:prstGeom>
          <a:solidFill>
            <a:srgbClr val="E8F0EB"/>
          </a:solidFill>
          <a:ln w="12700">
            <a:solidFill>
              <a:srgbClr val="E8F0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0" y="1600200"/>
            <a:ext cx="1320951" cy="109728"/>
          </a:xfrm>
          <a:prstGeom prst="rect">
            <a:avLst/>
          </a:prstGeom>
          <a:solidFill>
            <a:srgbClr val="0F7C66"/>
          </a:solidFill>
          <a:ln w="12700">
            <a:solidFill>
              <a:srgbClr val="0F7C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97880" y="155905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706A"/>
                </a:solidFill>
              </a:rPr>
              <a:t>0.012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" y="213055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201C"/>
                </a:solidFill>
              </a:rPr>
              <a:t>negative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0" y="2148840"/>
            <a:ext cx="3063240" cy="109728"/>
          </a:xfrm>
          <a:prstGeom prst="rect">
            <a:avLst/>
          </a:prstGeom>
          <a:solidFill>
            <a:srgbClr val="E8F0EB"/>
          </a:solidFill>
          <a:ln w="12700">
            <a:solidFill>
              <a:srgbClr val="E8F0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0" y="2148840"/>
            <a:ext cx="933776" cy="109728"/>
          </a:xfrm>
          <a:prstGeom prst="rect">
            <a:avLst/>
          </a:prstGeom>
          <a:solidFill>
            <a:srgbClr val="0F7C66"/>
          </a:solidFill>
          <a:ln w="12700">
            <a:solidFill>
              <a:srgbClr val="0F7C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97880" y="210769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706A"/>
                </a:solidFill>
              </a:rPr>
              <a:t>0.008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77240" y="267919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201C"/>
                </a:solidFill>
              </a:rPr>
              <a:t>amusement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0" y="2697480"/>
            <a:ext cx="3063240" cy="109728"/>
          </a:xfrm>
          <a:prstGeom prst="rect">
            <a:avLst/>
          </a:prstGeom>
          <a:solidFill>
            <a:srgbClr val="E8F0EB"/>
          </a:solidFill>
          <a:ln w="12700">
            <a:solidFill>
              <a:srgbClr val="E8F0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2697480"/>
            <a:ext cx="717413" cy="109728"/>
          </a:xfrm>
          <a:prstGeom prst="rect">
            <a:avLst/>
          </a:prstGeom>
          <a:solidFill>
            <a:srgbClr val="0F7C66"/>
          </a:solidFill>
          <a:ln w="12700">
            <a:solidFill>
              <a:srgbClr val="0F7C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97880" y="265633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706A"/>
                </a:solidFill>
              </a:rPr>
              <a:t>0.006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77240" y="322783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201C"/>
                </a:solidFill>
              </a:rPr>
              <a:t>anger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0" y="3246120"/>
            <a:ext cx="3063240" cy="109728"/>
          </a:xfrm>
          <a:prstGeom prst="rect">
            <a:avLst/>
          </a:prstGeom>
          <a:solidFill>
            <a:srgbClr val="E8F0EB"/>
          </a:solidFill>
          <a:ln w="12700">
            <a:solidFill>
              <a:srgbClr val="E8F0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0" y="3246120"/>
            <a:ext cx="580763" cy="109728"/>
          </a:xfrm>
          <a:prstGeom prst="rect">
            <a:avLst/>
          </a:prstGeom>
          <a:solidFill>
            <a:srgbClr val="2F68B8"/>
          </a:solidFill>
          <a:ln w="12700">
            <a:solidFill>
              <a:srgbClr val="2F68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97880" y="320497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706A"/>
                </a:solidFill>
              </a:rPr>
              <a:t>0.005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77240" y="377647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201C"/>
                </a:solidFill>
              </a:rPr>
              <a:t>disgust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0" y="3794760"/>
            <a:ext cx="3063240" cy="109728"/>
          </a:xfrm>
          <a:prstGeom prst="rect">
            <a:avLst/>
          </a:prstGeom>
          <a:solidFill>
            <a:srgbClr val="E8F0EB"/>
          </a:solidFill>
          <a:ln w="12700">
            <a:solidFill>
              <a:srgbClr val="E8F0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43200" y="3794760"/>
            <a:ext cx="3063240" cy="109728"/>
          </a:xfrm>
          <a:prstGeom prst="rect">
            <a:avLst/>
          </a:prstGeom>
          <a:solidFill>
            <a:srgbClr val="2F68B8"/>
          </a:solidFill>
          <a:ln w="12700">
            <a:solidFill>
              <a:srgbClr val="2F68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97880" y="375361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706A"/>
                </a:solidFill>
              </a:rPr>
              <a:t>0.027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355080" y="15819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201C"/>
                </a:solidFill>
              </a:rPr>
              <a:t>excitement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21040" y="1600200"/>
            <a:ext cx="3063240" cy="109728"/>
          </a:xfrm>
          <a:prstGeom prst="rect">
            <a:avLst/>
          </a:prstGeom>
          <a:solidFill>
            <a:srgbClr val="E8F0EB"/>
          </a:solidFill>
          <a:ln w="12700">
            <a:solidFill>
              <a:srgbClr val="E8F0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21040" y="1600200"/>
            <a:ext cx="967938" cy="109728"/>
          </a:xfrm>
          <a:prstGeom prst="rect">
            <a:avLst/>
          </a:prstGeom>
          <a:solidFill>
            <a:srgbClr val="2F68B8"/>
          </a:solidFill>
          <a:ln w="12700">
            <a:solidFill>
              <a:srgbClr val="2F68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475720" y="155905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706A"/>
                </a:solidFill>
              </a:rPr>
              <a:t>0.009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55080" y="213055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201C"/>
                </a:solidFill>
              </a:rPr>
              <a:t>fear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321040" y="2148840"/>
            <a:ext cx="3063240" cy="109728"/>
          </a:xfrm>
          <a:prstGeom prst="rect">
            <a:avLst/>
          </a:prstGeom>
          <a:solidFill>
            <a:srgbClr val="E8F0EB"/>
          </a:solidFill>
          <a:ln w="12700">
            <a:solidFill>
              <a:srgbClr val="E8F0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21040" y="2148840"/>
            <a:ext cx="1753676" cy="109728"/>
          </a:xfrm>
          <a:prstGeom prst="rect">
            <a:avLst/>
          </a:prstGeom>
          <a:solidFill>
            <a:srgbClr val="2F68B8"/>
          </a:solidFill>
          <a:ln w="12700">
            <a:solidFill>
              <a:srgbClr val="2F68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475720" y="210769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706A"/>
                </a:solidFill>
              </a:rPr>
              <a:t>0.015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355080" y="267919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201C"/>
                </a:solidFill>
              </a:rPr>
              <a:t>joy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321040" y="2697480"/>
            <a:ext cx="3063240" cy="109728"/>
          </a:xfrm>
          <a:prstGeom prst="rect">
            <a:avLst/>
          </a:prstGeom>
          <a:solidFill>
            <a:srgbClr val="E8F0EB"/>
          </a:solidFill>
          <a:ln w="12700">
            <a:solidFill>
              <a:srgbClr val="E8F0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21040" y="2697480"/>
            <a:ext cx="1446214" cy="109728"/>
          </a:xfrm>
          <a:prstGeom prst="rect">
            <a:avLst/>
          </a:prstGeom>
          <a:solidFill>
            <a:srgbClr val="2F68B8"/>
          </a:solidFill>
          <a:ln w="12700">
            <a:solidFill>
              <a:srgbClr val="2F68B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475720" y="265633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706A"/>
                </a:solidFill>
              </a:rPr>
              <a:t>0.013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355080" y="322783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201C"/>
                </a:solidFill>
              </a:rPr>
              <a:t>love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321040" y="3246120"/>
            <a:ext cx="3063240" cy="109728"/>
          </a:xfrm>
          <a:prstGeom prst="rect">
            <a:avLst/>
          </a:prstGeom>
          <a:solidFill>
            <a:srgbClr val="E8F0EB"/>
          </a:solidFill>
          <a:ln w="12700">
            <a:solidFill>
              <a:srgbClr val="E8F0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321040" y="3246120"/>
            <a:ext cx="751576" cy="109728"/>
          </a:xfrm>
          <a:prstGeom prst="rect">
            <a:avLst/>
          </a:prstGeom>
          <a:solidFill>
            <a:srgbClr val="2F68B8"/>
          </a:solidFill>
          <a:ln w="12700">
            <a:solidFill>
              <a:srgbClr val="2F68B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475720" y="320497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706A"/>
                </a:solidFill>
              </a:rPr>
              <a:t>0.007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355080" y="377647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201C"/>
                </a:solidFill>
              </a:rPr>
              <a:t>sadness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8321040" y="3794760"/>
            <a:ext cx="3063240" cy="109728"/>
          </a:xfrm>
          <a:prstGeom prst="rect">
            <a:avLst/>
          </a:prstGeom>
          <a:solidFill>
            <a:srgbClr val="E8F0EB"/>
          </a:solidFill>
          <a:ln w="12700">
            <a:solidFill>
              <a:srgbClr val="E8F0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21040" y="3794760"/>
            <a:ext cx="387175" cy="109728"/>
          </a:xfrm>
          <a:prstGeom prst="rect">
            <a:avLst/>
          </a:prstGeom>
          <a:solidFill>
            <a:srgbClr val="2F68B8"/>
          </a:solidFill>
          <a:ln w="12700">
            <a:solidFill>
              <a:srgbClr val="2F68B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475720" y="375361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706A"/>
                </a:solidFill>
              </a:rPr>
              <a:t>0.003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7240" y="516636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A"/>
                </a:solidFill>
              </a:rPr>
              <a:t>Positive and negative are broad affective poles. The remaining labels are discrete emotions shown alphabetically.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918A"/>
                </a:solidFill>
              </a:rPr>
              <a:t>Emotional directions project · final run, 10 emotion labels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2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 demo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12648" y="987552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8DDD6"/>
                </a:solidFill>
              </a:rPr>
              <a:t>Use the browser app to switch model, language, category, and emotion, then compare outputs side by side.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1B3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2034540"/>
            <a:ext cx="11795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1B39E"/>
                </a:solidFill>
              </a:rPr>
              <a:t>Model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0" y="1965960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1B3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16352" y="2034540"/>
            <a:ext cx="11795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1B39E"/>
                </a:solidFill>
              </a:rPr>
              <a:t>Language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709160" y="1965960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1B3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82312" y="2034540"/>
            <a:ext cx="11795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1B39E"/>
                </a:solidFill>
              </a:rPr>
              <a:t>Category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0" y="1965960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61B3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48272" y="2034540"/>
            <a:ext cx="11795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1B39E"/>
                </a:solidFill>
              </a:rPr>
              <a:t>Emotion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77240" y="30632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Ask the class: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" y="3547872"/>
            <a:ext cx="7955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DE7"/>
                </a:solidFill>
              </a:rPr>
              <a:t>Which outputs look interpretable?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3986784"/>
            <a:ext cx="7955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DE7"/>
                </a:solidFill>
              </a:rPr>
              <a:t>Where does Polish behave differently from English?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4425696"/>
            <a:ext cx="7955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DE7"/>
                </a:solidFill>
              </a:rPr>
              <a:t>Which model confuses broad valence with discrete emotion?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58338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C47B"/>
                </a:solidFill>
              </a:rPr>
              <a:t>class_app/index.html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0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can and cannot claim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8686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A"/>
                </a:solidFill>
              </a:rPr>
              <a:t>This is a geometry-of-language experiment, not a direct map of human emotion.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1097280" cy="0"/>
          </a:xfrm>
          <a:prstGeom prst="line">
            <a:avLst/>
          </a:prstGeom>
          <a:noFill/>
          <a:ln w="27940">
            <a:solidFill>
              <a:srgbClr val="0F7C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0020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66"/>
                </a:solidFill>
              </a:rPr>
              <a:t>Category retention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0" y="160020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1C"/>
                </a:solidFill>
              </a:rPr>
              <a:t>Search was constrained to category-specific candidate lists.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66"/>
                </a:solidFill>
              </a:rPr>
              <a:t>Positive / negative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246888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1C"/>
                </a:solidFill>
              </a:rPr>
              <a:t>These are broad affective poles, not discrete emotions.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3375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66"/>
                </a:solidFill>
              </a:rPr>
              <a:t>Bielik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333756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1C"/>
                </a:solidFill>
              </a:rPr>
              <a:t>Useful Polish LLM condition, but hidden-state pooling is experimental.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20624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66"/>
                </a:solidFill>
              </a:rPr>
              <a:t>Next step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743200" y="420624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1C"/>
                </a:solidFill>
              </a:rPr>
              <a:t>Manual ratings: category fit, emotion fit, interpretability.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0918A"/>
                </a:solidFill>
              </a:rPr>
              <a:t>Emotional directions project · final run, 10 emotion labels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AMU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Emotional directions in embedding spaces</dc:title>
  <dc:subject>Class presentation</dc:subject>
  <dc:creator>Emotional Directions Project</dc:creator>
  <cp:lastModifiedBy>Emotional Directions Project</cp:lastModifiedBy>
  <cp:revision>1</cp:revision>
  <dcterms:created xsi:type="dcterms:W3CDTF">2026-06-09T05:06:37Z</dcterms:created>
  <dcterms:modified xsi:type="dcterms:W3CDTF">2026-06-09T05:06:37Z</dcterms:modified>
</cp:coreProperties>
</file>